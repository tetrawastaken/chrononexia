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3"/>
    </p:embeddedFont>
    <p:embeddedFont>
      <p:font typeface="Cambria Bold" charset="1" panose="02040803050406030204"/>
      <p:regular r:id="rId24"/>
    </p:embeddedFont>
    <p:embeddedFont>
      <p:font typeface="Calibri (MS)" charset="1" panose="020F0502020204030204"/>
      <p:regular r:id="rId25"/>
    </p:embeddedFont>
    <p:embeddedFont>
      <p:font typeface="Calibri (MS) Italics" charset="1" panose="020F05020202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13" Target="../media/image11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1508760"/>
            <a:ext cx="5760720" cy="5760720"/>
            <a:chOff x="0" y="0"/>
            <a:chExt cx="7680960" cy="76809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329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47720" y="137160"/>
            <a:ext cx="2743200" cy="2743200"/>
            <a:chOff x="0" y="0"/>
            <a:chExt cx="3657600" cy="3657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1828800"/>
                  </a:moveTo>
                  <a:cubicBezTo>
                    <a:pt x="0" y="818769"/>
                    <a:pt x="818769" y="0"/>
                    <a:pt x="1828800" y="0"/>
                  </a:cubicBezTo>
                  <a:cubicBezTo>
                    <a:pt x="2838831" y="0"/>
                    <a:pt x="3657600" y="818769"/>
                    <a:pt x="3657600" y="1828800"/>
                  </a:cubicBezTo>
                  <a:cubicBezTo>
                    <a:pt x="3657600" y="2838831"/>
                    <a:pt x="2838831" y="3657600"/>
                    <a:pt x="1828800" y="3657600"/>
                  </a:cubicBezTo>
                  <a:cubicBezTo>
                    <a:pt x="818769" y="3657600"/>
                    <a:pt x="0" y="2838831"/>
                    <a:pt x="0" y="1828800"/>
                  </a:cubicBezTo>
                  <a:close/>
                </a:path>
              </a:pathLst>
            </a:custGeom>
            <a:solidFill>
              <a:srgbClr val="3A86FF">
                <a:alpha val="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783080" y="7406640"/>
            <a:ext cx="4937760" cy="4937760"/>
            <a:chOff x="0" y="0"/>
            <a:chExt cx="6583680" cy="65836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13294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1851660"/>
            <a:ext cx="8229600" cy="480060"/>
            <a:chOff x="0" y="0"/>
            <a:chExt cx="1097280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0E6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SPONSORSHIP PROPOSAL · 2026 EDITION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5860" y="3566160"/>
            <a:ext cx="14401800" cy="1920240"/>
            <a:chOff x="0" y="0"/>
            <a:chExt cx="19202400" cy="2560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9202400" cy="2579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800"/>
                </a:lnSpc>
              </a:pPr>
              <a:r>
                <a:rPr lang="en-US" sz="9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SymbiTech 2026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5280660"/>
            <a:ext cx="13441680" cy="2590558"/>
            <a:chOff x="0" y="0"/>
            <a:chExt cx="17922240" cy="34540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22239" cy="3454078"/>
            </a:xfrm>
            <a:custGeom>
              <a:avLst/>
              <a:gdLst/>
              <a:ahLst/>
              <a:cxnLst/>
              <a:rect r="r" b="b" t="t" l="l"/>
              <a:pathLst>
                <a:path h="3454078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3454078"/>
                  </a:lnTo>
                  <a:lnTo>
                    <a:pt x="0" y="34540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571" r="0" b="-1963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7922240" cy="3511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7D3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Flagship Technical Festival of Symbiosis InstituteSponsorship Pitch Deck • Annual Flagship Technical Festival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7D3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Symbiosis International (Deemed University) | Re-accredited by NAAC with an 'A++' Grade | Category-I by UGC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C7D3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Pune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25880" y="8601075"/>
            <a:ext cx="448056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500" spc="150">
                <a:solidFill>
                  <a:srgbClr val="7C8FB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EDITION</a:t>
            </a:r>
          </a:p>
          <a:p>
            <a:pPr algn="l">
              <a:lnSpc>
                <a:spcPts val="3276"/>
              </a:lnSpc>
            </a:pPr>
            <a:r>
              <a:rPr lang="en-US" sz="2100" spc="21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Dates TBD, 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26480" y="8601075"/>
            <a:ext cx="448056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500" spc="150">
                <a:solidFill>
                  <a:srgbClr val="7C8FB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FORMAT</a:t>
            </a:r>
          </a:p>
          <a:p>
            <a:pPr algn="l">
              <a:lnSpc>
                <a:spcPts val="3276"/>
              </a:lnSpc>
            </a:pPr>
            <a:r>
              <a:rPr lang="en-US" sz="2100" spc="21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2-Day National-Level Fest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27080" y="8601075"/>
            <a:ext cx="448056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500" spc="150">
                <a:solidFill>
                  <a:srgbClr val="7C8FB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LOCATION</a:t>
            </a:r>
          </a:p>
          <a:p>
            <a:pPr algn="l">
              <a:lnSpc>
                <a:spcPts val="3276"/>
              </a:lnSpc>
            </a:pPr>
            <a:r>
              <a:rPr lang="en-US" sz="2100" spc="21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SIT Campus, Lavale, Pune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FA3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A8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ABOUT THE FEST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5773400" cy="1234440"/>
            <a:chOff x="0" y="0"/>
            <a:chExt cx="210312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03120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118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More than a tech fest — an institutional legacy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537460"/>
            <a:ext cx="9738360" cy="1783080"/>
            <a:chOff x="0" y="0"/>
            <a:chExt cx="12984480" cy="2377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844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418" r="0" b="-5641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2984480" cy="2491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SymbiTech is the annual flagship technical festival of Symbiosis Institute of Technology (SIT), Pune — a two-day, multi-department showcase of innovation that brings together students, industry leaders, and mentors from across the country.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21440" y="2537460"/>
            <a:ext cx="5554980" cy="6652260"/>
            <a:chOff x="0" y="0"/>
            <a:chExt cx="7406640" cy="8869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06640" cy="8869680"/>
            </a:xfrm>
            <a:custGeom>
              <a:avLst/>
              <a:gdLst/>
              <a:ahLst/>
              <a:cxnLst/>
              <a:rect r="r" b="b" t="t" l="l"/>
              <a:pathLst>
                <a:path h="8869680" w="74066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187184" y="0"/>
                  </a:lnTo>
                  <a:cubicBezTo>
                    <a:pt x="7308342" y="0"/>
                    <a:pt x="7406640" y="98298"/>
                    <a:pt x="7406640" y="219456"/>
                  </a:cubicBezTo>
                  <a:lnTo>
                    <a:pt x="7406640" y="8650224"/>
                  </a:lnTo>
                  <a:cubicBezTo>
                    <a:pt x="7406640" y="8771382"/>
                    <a:pt x="7308342" y="8869680"/>
                    <a:pt x="7187184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001500" y="3086100"/>
            <a:ext cx="4663440" cy="1508760"/>
            <a:chOff x="0" y="0"/>
            <a:chExt cx="6217920" cy="2011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179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04775"/>
              <a:ext cx="6217920" cy="2116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C7D3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Since its national-level</a:t>
              </a:r>
            </a:p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C7D3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relaunch in 2022,</a:t>
              </a:r>
            </a:p>
            <a:p>
              <a:pPr algn="l">
                <a:lnSpc>
                  <a:spcPts val="2925"/>
                </a:lnSpc>
              </a:pPr>
              <a:r>
                <a:rPr lang="en-US" sz="1950">
                  <a:solidFill>
                    <a:srgbClr val="C7D3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SymbiTech has drawn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967210" y="2552272"/>
            <a:ext cx="4663440" cy="4839556"/>
            <a:chOff x="0" y="0"/>
            <a:chExt cx="6217920" cy="64527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17920" cy="6452741"/>
            </a:xfrm>
            <a:custGeom>
              <a:avLst/>
              <a:gdLst/>
              <a:ahLst/>
              <a:cxnLst/>
              <a:rect r="r" b="b" t="t" l="l"/>
              <a:pathLst>
                <a:path h="6452741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52741"/>
                  </a:lnTo>
                  <a:lnTo>
                    <a:pt x="0" y="64527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22" r="0" b="6847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6217920" cy="6471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20"/>
                </a:lnSpc>
              </a:pPr>
              <a:r>
                <a:rPr lang="en-US" sz="6600" b="true">
                  <a:solidFill>
                    <a:srgbClr val="00E6C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2500+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01500" y="5623560"/>
            <a:ext cx="4663440" cy="1234440"/>
            <a:chOff x="0" y="0"/>
            <a:chExt cx="621792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10" r="0" b="-2361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6217920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C7D3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participants from across Maharashtra in a single edition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91975" y="7054215"/>
            <a:ext cx="4682490" cy="19050"/>
            <a:chOff x="0" y="0"/>
            <a:chExt cx="6243320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43320" cy="25400"/>
            </a:xfrm>
            <a:custGeom>
              <a:avLst/>
              <a:gdLst/>
              <a:ahLst/>
              <a:cxnLst/>
              <a:rect r="r" b="b" t="t" l="l"/>
              <a:pathLst>
                <a:path h="25400" w="6243320">
                  <a:moveTo>
                    <a:pt x="0" y="0"/>
                  </a:moveTo>
                  <a:lnTo>
                    <a:pt x="6243320" y="254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4739422" r="0" b="-4739422"/>
              </a:stretch>
            </a:blipFill>
            <a:ln w="19050" cap="sq">
              <a:solidFill>
                <a:srgbClr val="2A3E64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001500" y="7338060"/>
            <a:ext cx="4663440" cy="1577340"/>
            <a:chOff x="0" y="0"/>
            <a:chExt cx="6217920" cy="2103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179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07" r="0" b="-760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6217920" cy="2198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C7D3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Departments across Engineering, Robotics, Civil, CS &amp; AI-ML co-host events every edition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4440" y="480060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A86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194560" y="4732020"/>
            <a:ext cx="8641080" cy="480060"/>
            <a:chOff x="0" y="0"/>
            <a:chExt cx="11521440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21440" cy="640080"/>
            </a:xfrm>
            <a:custGeom>
              <a:avLst/>
              <a:gdLst/>
              <a:ahLst/>
              <a:cxnLst/>
              <a:rect r="r" b="b" t="t" l="l"/>
              <a:pathLst>
                <a:path h="6400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5214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94560" y="5239512"/>
            <a:ext cx="8641080" cy="822960"/>
            <a:chOff x="0" y="0"/>
            <a:chExt cx="1152144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521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76200"/>
              <a:ext cx="115214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Hackathons, coding contests, robotics &amp; engineering challenges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" y="6240780"/>
            <a:ext cx="685800" cy="685800"/>
            <a:chOff x="0" y="0"/>
            <a:chExt cx="9144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A86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194560" y="6172200"/>
            <a:ext cx="8641080" cy="480060"/>
            <a:chOff x="0" y="0"/>
            <a:chExt cx="1152144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521440" cy="640080"/>
            </a:xfrm>
            <a:custGeom>
              <a:avLst/>
              <a:gdLst/>
              <a:ahLst/>
              <a:cxnLst/>
              <a:rect r="r" b="b" t="t" l="l"/>
              <a:pathLst>
                <a:path h="6400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15214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Managerial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194560" y="6679692"/>
            <a:ext cx="8641080" cy="822960"/>
            <a:chOff x="0" y="0"/>
            <a:chExt cx="11521440" cy="10972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521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115214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 leadership, sponsorship, and operations experience for students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34440" y="768096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A86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194560" y="7612380"/>
            <a:ext cx="8641080" cy="480060"/>
            <a:chOff x="0" y="0"/>
            <a:chExt cx="1152144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521440" cy="640080"/>
            </a:xfrm>
            <a:custGeom>
              <a:avLst/>
              <a:gdLst/>
              <a:ahLst/>
              <a:cxnLst/>
              <a:rect r="r" b="b" t="t" l="l"/>
              <a:pathLst>
                <a:path h="6400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115214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Industry-facing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194560" y="8119872"/>
            <a:ext cx="8641080" cy="822960"/>
            <a:chOff x="0" y="0"/>
            <a:chExt cx="1152144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521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1152144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Exhibitions, talks, and mentorship from corporate &amp; R&amp;D partners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A8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HOST INSTITUTE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5773400" cy="1097280"/>
            <a:chOff x="0" y="0"/>
            <a:chExt cx="21031200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8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Symbiosis Institute of Technology, Pune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15773400" cy="1440180"/>
            <a:chOff x="0" y="0"/>
            <a:chExt cx="21031200" cy="1920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407" r="0" b="-1634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1031200" cy="203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6"/>
                </a:lnSpc>
              </a:pPr>
              <a:r>
                <a:rPr lang="en-US" sz="21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SIT is the flagship engineering institute under Symbiosis International (Deemed University), offering undergraduate and postgraduate programs across Computer Science &amp; IT, AI &amp; Machine Learning, Electronics &amp; Telecommunication, Mechanical, Civil, and Robotics &amp; Automation — set on campus in Lavale, Pune.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4915" y="4242435"/>
            <a:ext cx="5162550" cy="2145030"/>
            <a:chOff x="0" y="0"/>
            <a:chExt cx="6883400" cy="28600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8340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8834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698869" y="0"/>
                  </a:lnTo>
                  <a:cubicBezTo>
                    <a:pt x="6800723" y="0"/>
                    <a:pt x="6883400" y="82677"/>
                    <a:pt x="6883400" y="184531"/>
                  </a:cubicBezTo>
                  <a:lnTo>
                    <a:pt x="6883400" y="2675509"/>
                  </a:lnTo>
                  <a:cubicBezTo>
                    <a:pt x="6883400" y="2777363"/>
                    <a:pt x="6800723" y="2860040"/>
                    <a:pt x="669886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77340" y="4594860"/>
            <a:ext cx="617220" cy="617220"/>
            <a:chOff x="0" y="0"/>
            <a:chExt cx="82296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A86FF">
                <a:alpha val="1961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14500" y="4732020"/>
            <a:ext cx="342900" cy="342900"/>
            <a:chOff x="0" y="0"/>
            <a:chExt cx="457200" cy="457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3A86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668780" y="5347335"/>
            <a:ext cx="42748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Computer Science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711315" y="4242435"/>
            <a:ext cx="5162550" cy="2145030"/>
            <a:chOff x="0" y="0"/>
            <a:chExt cx="6883400" cy="2860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8340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8834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698869" y="0"/>
                  </a:lnTo>
                  <a:cubicBezTo>
                    <a:pt x="6800723" y="0"/>
                    <a:pt x="6883400" y="82677"/>
                    <a:pt x="6883400" y="184531"/>
                  </a:cubicBezTo>
                  <a:lnTo>
                    <a:pt x="6883400" y="2675509"/>
                  </a:lnTo>
                  <a:cubicBezTo>
                    <a:pt x="6883400" y="2777363"/>
                    <a:pt x="6800723" y="2860040"/>
                    <a:pt x="669886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7063740" y="4594860"/>
            <a:ext cx="617220" cy="617220"/>
            <a:chOff x="0" y="0"/>
            <a:chExt cx="822960" cy="82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A86FF">
                <a:alpha val="1961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200900" y="4732020"/>
            <a:ext cx="342900" cy="342900"/>
            <a:chOff x="0" y="0"/>
            <a:chExt cx="457200" cy="457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3A86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155180" y="5347335"/>
            <a:ext cx="427482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&amp; Machine Learning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197715" y="4242435"/>
            <a:ext cx="5162550" cy="2145030"/>
            <a:chOff x="0" y="0"/>
            <a:chExt cx="6883400" cy="2860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8340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8834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698869" y="0"/>
                  </a:lnTo>
                  <a:cubicBezTo>
                    <a:pt x="6800723" y="0"/>
                    <a:pt x="6883400" y="82677"/>
                    <a:pt x="6883400" y="184531"/>
                  </a:cubicBezTo>
                  <a:lnTo>
                    <a:pt x="6883400" y="2675509"/>
                  </a:lnTo>
                  <a:cubicBezTo>
                    <a:pt x="6883400" y="2777363"/>
                    <a:pt x="6800723" y="2860040"/>
                    <a:pt x="669886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550140" y="4594860"/>
            <a:ext cx="617220" cy="617220"/>
            <a:chOff x="0" y="0"/>
            <a:chExt cx="822960" cy="822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A86FF">
                <a:alpha val="1961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687300" y="4732020"/>
            <a:ext cx="342900" cy="342900"/>
            <a:chOff x="0" y="0"/>
            <a:chExt cx="457200" cy="45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3A86F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641580" y="5347335"/>
            <a:ext cx="427482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Electronics &amp; Telecom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24915" y="6711315"/>
            <a:ext cx="5162550" cy="2145030"/>
            <a:chOff x="0" y="0"/>
            <a:chExt cx="6883400" cy="2860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8340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8834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698869" y="0"/>
                  </a:lnTo>
                  <a:cubicBezTo>
                    <a:pt x="6800723" y="0"/>
                    <a:pt x="6883400" y="82677"/>
                    <a:pt x="6883400" y="184531"/>
                  </a:cubicBezTo>
                  <a:lnTo>
                    <a:pt x="6883400" y="2675509"/>
                  </a:lnTo>
                  <a:cubicBezTo>
                    <a:pt x="6883400" y="2777363"/>
                    <a:pt x="6800723" y="2860040"/>
                    <a:pt x="669886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577340" y="7063740"/>
            <a:ext cx="617220" cy="617220"/>
            <a:chOff x="0" y="0"/>
            <a:chExt cx="822960" cy="8229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A86FF">
                <a:alpha val="1961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14500" y="7200900"/>
            <a:ext cx="342900" cy="342900"/>
            <a:chOff x="0" y="0"/>
            <a:chExt cx="457200" cy="457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3A86F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668780" y="7816215"/>
            <a:ext cx="427482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Mechanical Engineering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711315" y="6711315"/>
            <a:ext cx="5162550" cy="2145030"/>
            <a:chOff x="0" y="0"/>
            <a:chExt cx="6883400" cy="2860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8340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8834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698869" y="0"/>
                  </a:lnTo>
                  <a:cubicBezTo>
                    <a:pt x="6800723" y="0"/>
                    <a:pt x="6883400" y="82677"/>
                    <a:pt x="6883400" y="184531"/>
                  </a:cubicBezTo>
                  <a:lnTo>
                    <a:pt x="6883400" y="2675509"/>
                  </a:lnTo>
                  <a:cubicBezTo>
                    <a:pt x="6883400" y="2777363"/>
                    <a:pt x="6800723" y="2860040"/>
                    <a:pt x="669886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063740" y="7063740"/>
            <a:ext cx="617220" cy="617220"/>
            <a:chOff x="0" y="0"/>
            <a:chExt cx="822960" cy="8229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A86FF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00900" y="7200900"/>
            <a:ext cx="342900" cy="342900"/>
            <a:chOff x="0" y="0"/>
            <a:chExt cx="457200" cy="457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3A86FF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7155180" y="7816215"/>
            <a:ext cx="427482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Civil Engineering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2197715" y="6711315"/>
            <a:ext cx="5162550" cy="2145030"/>
            <a:chOff x="0" y="0"/>
            <a:chExt cx="6883400" cy="2860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8340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883400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6698869" y="0"/>
                  </a:lnTo>
                  <a:cubicBezTo>
                    <a:pt x="6800723" y="0"/>
                    <a:pt x="6883400" y="82677"/>
                    <a:pt x="6883400" y="184531"/>
                  </a:cubicBezTo>
                  <a:lnTo>
                    <a:pt x="6883400" y="2675509"/>
                  </a:lnTo>
                  <a:cubicBezTo>
                    <a:pt x="6883400" y="2777363"/>
                    <a:pt x="6800723" y="2860040"/>
                    <a:pt x="6698869" y="2860040"/>
                  </a:cubicBezTo>
                  <a:lnTo>
                    <a:pt x="184531" y="2860040"/>
                  </a:lnTo>
                  <a:cubicBezTo>
                    <a:pt x="82677" y="2860040"/>
                    <a:pt x="0" y="2777363"/>
                    <a:pt x="0" y="2675509"/>
                  </a:cubicBezTo>
                  <a:close/>
                </a:path>
              </a:pathLst>
            </a:custGeom>
            <a:solidFill>
              <a:srgbClr val="F4F6FA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2550140" y="7063740"/>
            <a:ext cx="617220" cy="617220"/>
            <a:chOff x="0" y="0"/>
            <a:chExt cx="822960" cy="8229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A86FF">
                <a:alpha val="1961"/>
              </a:srgbClr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687300" y="7200900"/>
            <a:ext cx="342900" cy="342900"/>
            <a:chOff x="0" y="0"/>
            <a:chExt cx="457200" cy="457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cubicBezTo>
                    <a:pt x="354838" y="0"/>
                    <a:pt x="457200" y="102362"/>
                    <a:pt x="457200" y="228600"/>
                  </a:cubicBezTo>
                  <a:cubicBezTo>
                    <a:pt x="457200" y="354838"/>
                    <a:pt x="354838" y="457200"/>
                    <a:pt x="228600" y="457200"/>
                  </a:cubicBezTo>
                  <a:cubicBezTo>
                    <a:pt x="102362" y="457200"/>
                    <a:pt x="0" y="354838"/>
                    <a:pt x="0" y="228600"/>
                  </a:cubicBezTo>
                  <a:close/>
                </a:path>
              </a:pathLst>
            </a:custGeom>
            <a:solidFill>
              <a:srgbClr val="3A86FF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641580" y="7816215"/>
            <a:ext cx="427482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Robotics &amp; Automation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0E6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LEGACY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festival that keeps scaling up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5390" y="5604510"/>
            <a:ext cx="15811500" cy="38100"/>
            <a:chOff x="0" y="0"/>
            <a:chExt cx="21082000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82000" cy="50800"/>
            </a:xfrm>
            <a:custGeom>
              <a:avLst/>
              <a:gdLst/>
              <a:ahLst/>
              <a:cxnLst/>
              <a:rect r="r" b="b" t="t" l="l"/>
              <a:pathLst>
                <a:path h="50800" w="21082000">
                  <a:moveTo>
                    <a:pt x="0" y="0"/>
                  </a:moveTo>
                  <a:lnTo>
                    <a:pt x="2108200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8036290" r="0" b="-8036290"/>
              </a:stretch>
            </a:blipFill>
            <a:ln w="38100" cap="sq">
              <a:solidFill>
                <a:srgbClr val="2A3E6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54989" y="5444109"/>
            <a:ext cx="358902" cy="358902"/>
            <a:chOff x="0" y="0"/>
            <a:chExt cx="478536" cy="478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8536" cy="478536"/>
            </a:xfrm>
            <a:custGeom>
              <a:avLst/>
              <a:gdLst/>
              <a:ahLst/>
              <a:cxnLst/>
              <a:rect r="r" b="b" t="t" l="l"/>
              <a:pathLst>
                <a:path h="478536" w="478536">
                  <a:moveTo>
                    <a:pt x="0" y="239268"/>
                  </a:moveTo>
                  <a:cubicBezTo>
                    <a:pt x="0" y="107061"/>
                    <a:pt x="107061" y="0"/>
                    <a:pt x="239268" y="0"/>
                  </a:cubicBezTo>
                  <a:cubicBezTo>
                    <a:pt x="371475" y="0"/>
                    <a:pt x="478536" y="107061"/>
                    <a:pt x="478536" y="239268"/>
                  </a:cubicBezTo>
                  <a:cubicBezTo>
                    <a:pt x="478536" y="371475"/>
                    <a:pt x="371475" y="478536"/>
                    <a:pt x="239268" y="478536"/>
                  </a:cubicBezTo>
                  <a:cubicBezTo>
                    <a:pt x="107061" y="478536"/>
                    <a:pt x="0" y="371475"/>
                    <a:pt x="0" y="239268"/>
                  </a:cubicBezTo>
                  <a:close/>
                </a:path>
              </a:pathLst>
            </a:custGeom>
            <a:solidFill>
              <a:srgbClr val="3A86FF"/>
            </a:solidFill>
            <a:ln w="57150" cap="sq">
              <a:solidFill>
                <a:srgbClr val="0B1E3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4457700"/>
            <a:ext cx="2468880" cy="685800"/>
            <a:chOff x="0" y="0"/>
            <a:chExt cx="329184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32918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2022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891540" y="5966460"/>
            <a:ext cx="4251960" cy="548640"/>
            <a:chOff x="0" y="0"/>
            <a:chExt cx="56692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69280" cy="731520"/>
            </a:xfrm>
            <a:custGeom>
              <a:avLst/>
              <a:gdLst/>
              <a:ahLst/>
              <a:cxnLst/>
              <a:rect r="r" b="b" t="t" l="l"/>
              <a:pathLst>
                <a:path h="7315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669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First national-level edition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891540" y="6515100"/>
            <a:ext cx="4251960" cy="2057400"/>
            <a:chOff x="0" y="0"/>
            <a:chExt cx="5669280" cy="274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69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82" t="0" r="-120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669280" cy="2809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62"/>
                </a:lnSpc>
              </a:pPr>
              <a:r>
                <a:rPr lang="en-US" sz="1575">
                  <a:solidFill>
                    <a:srgbClr val="AAB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Centralized, national-level format launched. 2000+ participants. Principal sponsor: Bajaj Finserv Health. Guests included DRDO's Dr. Shailendra Gade.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12789" y="5444109"/>
            <a:ext cx="358902" cy="358902"/>
            <a:chOff x="0" y="0"/>
            <a:chExt cx="478536" cy="4785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8536" cy="478536"/>
            </a:xfrm>
            <a:custGeom>
              <a:avLst/>
              <a:gdLst/>
              <a:ahLst/>
              <a:cxnLst/>
              <a:rect r="r" b="b" t="t" l="l"/>
              <a:pathLst>
                <a:path h="478536" w="478536">
                  <a:moveTo>
                    <a:pt x="0" y="239268"/>
                  </a:moveTo>
                  <a:cubicBezTo>
                    <a:pt x="0" y="107061"/>
                    <a:pt x="107061" y="0"/>
                    <a:pt x="239268" y="0"/>
                  </a:cubicBezTo>
                  <a:cubicBezTo>
                    <a:pt x="371475" y="0"/>
                    <a:pt x="478536" y="107061"/>
                    <a:pt x="478536" y="239268"/>
                  </a:cubicBezTo>
                  <a:cubicBezTo>
                    <a:pt x="478536" y="371475"/>
                    <a:pt x="371475" y="478536"/>
                    <a:pt x="239268" y="478536"/>
                  </a:cubicBezTo>
                  <a:cubicBezTo>
                    <a:pt x="107061" y="478536"/>
                    <a:pt x="0" y="371475"/>
                    <a:pt x="0" y="239268"/>
                  </a:cubicBezTo>
                  <a:close/>
                </a:path>
              </a:pathLst>
            </a:custGeom>
            <a:solidFill>
              <a:srgbClr val="3A86FF"/>
            </a:solidFill>
            <a:ln w="57150" cap="sq">
              <a:solidFill>
                <a:srgbClr val="0B1E3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257800" y="4457700"/>
            <a:ext cx="2468880" cy="685800"/>
            <a:chOff x="0" y="0"/>
            <a:chExt cx="329184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2918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2023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366260" y="5966460"/>
            <a:ext cx="4251960" cy="548640"/>
            <a:chOff x="0" y="0"/>
            <a:chExt cx="566928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69280" cy="731520"/>
            </a:xfrm>
            <a:custGeom>
              <a:avLst/>
              <a:gdLst/>
              <a:ahLst/>
              <a:cxnLst/>
              <a:rect r="r" b="b" t="t" l="l"/>
              <a:pathLst>
                <a:path h="7315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669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“Ecogenesis”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366260" y="6515100"/>
            <a:ext cx="4251960" cy="2057400"/>
            <a:chOff x="0" y="0"/>
            <a:chExt cx="5669280" cy="2743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69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82" t="0" r="-1208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5669280" cy="2809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62"/>
                </a:lnSpc>
              </a:pPr>
              <a:r>
                <a:rPr lang="en-US" sz="1575">
                  <a:solidFill>
                    <a:srgbClr val="AAB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Theme: When Technology Meets Sustainability. Held 20–21 September, spotlighting green-tech innovation.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570589" y="5444109"/>
            <a:ext cx="358902" cy="358902"/>
            <a:chOff x="0" y="0"/>
            <a:chExt cx="478536" cy="4785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8536" cy="478536"/>
            </a:xfrm>
            <a:custGeom>
              <a:avLst/>
              <a:gdLst/>
              <a:ahLst/>
              <a:cxnLst/>
              <a:rect r="r" b="b" t="t" l="l"/>
              <a:pathLst>
                <a:path h="478536" w="478536">
                  <a:moveTo>
                    <a:pt x="0" y="239268"/>
                  </a:moveTo>
                  <a:cubicBezTo>
                    <a:pt x="0" y="107061"/>
                    <a:pt x="107061" y="0"/>
                    <a:pt x="239268" y="0"/>
                  </a:cubicBezTo>
                  <a:cubicBezTo>
                    <a:pt x="371475" y="0"/>
                    <a:pt x="478536" y="107061"/>
                    <a:pt x="478536" y="239268"/>
                  </a:cubicBezTo>
                  <a:cubicBezTo>
                    <a:pt x="478536" y="371475"/>
                    <a:pt x="371475" y="478536"/>
                    <a:pt x="239268" y="478536"/>
                  </a:cubicBezTo>
                  <a:cubicBezTo>
                    <a:pt x="107061" y="478536"/>
                    <a:pt x="0" y="371475"/>
                    <a:pt x="0" y="239268"/>
                  </a:cubicBezTo>
                  <a:close/>
                </a:path>
              </a:pathLst>
            </a:custGeom>
            <a:solidFill>
              <a:srgbClr val="3A86FF"/>
            </a:solidFill>
            <a:ln w="57150" cap="sq">
              <a:solidFill>
                <a:srgbClr val="0B1E3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0515600" y="4457700"/>
            <a:ext cx="2468880" cy="685800"/>
            <a:chOff x="0" y="0"/>
            <a:chExt cx="329184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2918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2025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624060" y="5966460"/>
            <a:ext cx="4251960" cy="548640"/>
            <a:chOff x="0" y="0"/>
            <a:chExt cx="566928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69280" cy="731520"/>
            </a:xfrm>
            <a:custGeom>
              <a:avLst/>
              <a:gdLst/>
              <a:ahLst/>
              <a:cxnLst/>
              <a:rect r="r" b="b" t="t" l="l"/>
              <a:pathLst>
                <a:path h="7315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669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Latest edition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24060" y="6515100"/>
            <a:ext cx="4251960" cy="2057400"/>
            <a:chOff x="0" y="0"/>
            <a:chExt cx="5669280" cy="2743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669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82" t="0" r="-12082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5669280" cy="2809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62"/>
                </a:lnSpc>
              </a:pPr>
              <a:r>
                <a:rPr lang="en-US" sz="1575">
                  <a:solidFill>
                    <a:srgbClr val="AAB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Held 24–25 January. Inaugurated by Dr. Ketan Kotecha (Director, SIT) with industry AI leadership in attendance.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6828389" y="5444109"/>
            <a:ext cx="358902" cy="358902"/>
            <a:chOff x="0" y="0"/>
            <a:chExt cx="478536" cy="4785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8536" cy="478536"/>
            </a:xfrm>
            <a:custGeom>
              <a:avLst/>
              <a:gdLst/>
              <a:ahLst/>
              <a:cxnLst/>
              <a:rect r="r" b="b" t="t" l="l"/>
              <a:pathLst>
                <a:path h="478536" w="478536">
                  <a:moveTo>
                    <a:pt x="0" y="239268"/>
                  </a:moveTo>
                  <a:cubicBezTo>
                    <a:pt x="0" y="107061"/>
                    <a:pt x="107061" y="0"/>
                    <a:pt x="239268" y="0"/>
                  </a:cubicBezTo>
                  <a:cubicBezTo>
                    <a:pt x="371475" y="0"/>
                    <a:pt x="478536" y="107061"/>
                    <a:pt x="478536" y="239268"/>
                  </a:cubicBezTo>
                  <a:cubicBezTo>
                    <a:pt x="478536" y="371475"/>
                    <a:pt x="371475" y="478536"/>
                    <a:pt x="239268" y="478536"/>
                  </a:cubicBezTo>
                  <a:cubicBezTo>
                    <a:pt x="107061" y="478536"/>
                    <a:pt x="0" y="371475"/>
                    <a:pt x="0" y="239268"/>
                  </a:cubicBezTo>
                  <a:close/>
                </a:path>
              </a:pathLst>
            </a:custGeom>
            <a:solidFill>
              <a:srgbClr val="00E6C3"/>
            </a:solidFill>
            <a:ln w="57150" cap="sq">
              <a:solidFill>
                <a:srgbClr val="0B1E3F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5773400" y="4457700"/>
            <a:ext cx="2468880" cy="685800"/>
            <a:chOff x="0" y="0"/>
            <a:chExt cx="329184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329184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0E6C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2026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881860" y="5966460"/>
            <a:ext cx="4251960" cy="548640"/>
            <a:chOff x="0" y="0"/>
            <a:chExt cx="566928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669280" cy="731520"/>
            </a:xfrm>
            <a:custGeom>
              <a:avLst/>
              <a:gdLst/>
              <a:ahLst/>
              <a:cxnLst/>
              <a:rect r="r" b="b" t="t" l="l"/>
              <a:pathLst>
                <a:path h="73152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669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This edition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881860" y="6515100"/>
            <a:ext cx="4251960" cy="2057400"/>
            <a:chOff x="0" y="0"/>
            <a:chExt cx="5669280" cy="27432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69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082" t="0" r="-1208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5669280" cy="2809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62"/>
                </a:lnSpc>
              </a:pPr>
              <a:r>
                <a:rPr lang="en-US" sz="1575">
                  <a:solidFill>
                    <a:srgbClr val="AAB9D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Bigger footprint, more verticals, and a refreshed sponsor experience — details in this proposal.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FA3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A8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OPPORTUNITY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118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partner with SymbiTech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674620"/>
            <a:ext cx="7680960" cy="2948940"/>
            <a:chOff x="0" y="0"/>
            <a:chExt cx="10241280" cy="393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3749040"/>
                  </a:lnTo>
                  <a:cubicBezTo>
                    <a:pt x="10241280" y="3850005"/>
                    <a:pt x="10159365" y="3931920"/>
                    <a:pt x="1005840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5920" y="308610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" y="3086100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E6C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766060" y="3047238"/>
            <a:ext cx="56464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Direct access to future talent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37360" y="3918585"/>
            <a:ext cx="6675120" cy="145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Engage engineering, CS, and AI/ML students early — for hiring pipelines, internships, and campus ambassador programs.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26880" y="2674620"/>
            <a:ext cx="7680960" cy="2948940"/>
            <a:chOff x="0" y="0"/>
            <a:chExt cx="10241280" cy="3931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3749040"/>
                  </a:lnTo>
                  <a:cubicBezTo>
                    <a:pt x="10241280" y="3850005"/>
                    <a:pt x="10159365" y="3931920"/>
                    <a:pt x="1005840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738360" y="3086100"/>
            <a:ext cx="754380" cy="754380"/>
            <a:chOff x="0" y="0"/>
            <a:chExt cx="100584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738360" y="3086100"/>
            <a:ext cx="754380" cy="754380"/>
            <a:chOff x="0" y="0"/>
            <a:chExt cx="100584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E6C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858500" y="3047238"/>
            <a:ext cx="56464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High-intent, tech-fluent audience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29800" y="3918585"/>
            <a:ext cx="6675120" cy="145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Attendees actively participate in hackathons and competitions built around your product category.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34440" y="6035040"/>
            <a:ext cx="7680960" cy="2948940"/>
            <a:chOff x="0" y="0"/>
            <a:chExt cx="10241280" cy="3931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3749040"/>
                  </a:lnTo>
                  <a:cubicBezTo>
                    <a:pt x="10241280" y="3850005"/>
                    <a:pt x="10159365" y="3931920"/>
                    <a:pt x="1005840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5920" y="6446520"/>
            <a:ext cx="754380" cy="754380"/>
            <a:chOff x="0" y="0"/>
            <a:chExt cx="10058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45920" y="644652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E6C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766060" y="6407658"/>
            <a:ext cx="56464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Multi-format brand visibility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37360" y="7279005"/>
            <a:ext cx="6675120" cy="145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On-ground branding, stage mentions, digital promotion, and exhibition space in one package.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26880" y="6035040"/>
            <a:ext cx="7680960" cy="2948940"/>
            <a:chOff x="0" y="0"/>
            <a:chExt cx="10241280" cy="39319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24128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2412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058400" y="0"/>
                  </a:lnTo>
                  <a:cubicBezTo>
                    <a:pt x="10159365" y="0"/>
                    <a:pt x="10241280" y="81915"/>
                    <a:pt x="10241280" y="182880"/>
                  </a:cubicBezTo>
                  <a:lnTo>
                    <a:pt x="10241280" y="3749040"/>
                  </a:lnTo>
                  <a:cubicBezTo>
                    <a:pt x="10241280" y="3850005"/>
                    <a:pt x="10159365" y="3931920"/>
                    <a:pt x="1005840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738360" y="6446520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738360" y="6446520"/>
            <a:ext cx="754380" cy="754380"/>
            <a:chOff x="0" y="0"/>
            <a:chExt cx="100584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0058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E6C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0858500" y="6407658"/>
            <a:ext cx="5646420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Association with a proven legacy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29800" y="7279005"/>
            <a:ext cx="6675120" cy="145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A fest with a multi-year track record, institutional backing, and consistent national-level participation.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A8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AUDIENCE &amp; REACH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118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Who you'll be in front of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125980"/>
            <a:ext cx="15087600" cy="548640"/>
            <a:chOff x="0" y="0"/>
            <a:chExt cx="201168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731520"/>
            </a:xfrm>
            <a:custGeom>
              <a:avLst/>
              <a:gdLst/>
              <a:ahLst/>
              <a:cxnLst/>
              <a:rect r="r" b="b" t="t" l="l"/>
              <a:pathLst>
                <a:path h="7315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5838" r="0" b="-4858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0116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i="true">
                  <a:solidFill>
                    <a:srgbClr val="9AA6B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Figures below are placeholders — replace with confirmed 2026 numbers before sending.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896605" y="2979420"/>
            <a:ext cx="3909060" cy="2331720"/>
            <a:chOff x="0" y="0"/>
            <a:chExt cx="5212080" cy="3108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120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2926080"/>
                  </a:lnTo>
                  <a:cubicBezTo>
                    <a:pt x="5212080" y="3027045"/>
                    <a:pt x="5130165" y="3108960"/>
                    <a:pt x="5029200" y="3108960"/>
                  </a:cubicBezTo>
                  <a:lnTo>
                    <a:pt x="182880" y="3108960"/>
                  </a:lnTo>
                  <a:cubicBezTo>
                    <a:pt x="81915" y="3108960"/>
                    <a:pt x="0" y="3027045"/>
                    <a:pt x="0" y="2926080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896605" y="2274987"/>
            <a:ext cx="3909060" cy="3516213"/>
            <a:chOff x="0" y="0"/>
            <a:chExt cx="5212080" cy="46882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12080" cy="4688284"/>
            </a:xfrm>
            <a:custGeom>
              <a:avLst/>
              <a:gdLst/>
              <a:ahLst/>
              <a:cxnLst/>
              <a:rect r="r" b="b" t="t" l="l"/>
              <a:pathLst>
                <a:path h="4688284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4688284"/>
                  </a:lnTo>
                  <a:lnTo>
                    <a:pt x="0" y="4688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34" r="0" b="6371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5212080" cy="46978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3A86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600-700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102345" y="4320540"/>
            <a:ext cx="3497580" cy="822960"/>
            <a:chOff x="0" y="0"/>
            <a:chExt cx="466344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6634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Footfall over 2 days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96912" y="3013710"/>
            <a:ext cx="3909060" cy="2331720"/>
            <a:chOff x="0" y="0"/>
            <a:chExt cx="5212080" cy="31089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120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2926080"/>
                  </a:lnTo>
                  <a:cubicBezTo>
                    <a:pt x="5212080" y="3027045"/>
                    <a:pt x="5130165" y="3108960"/>
                    <a:pt x="5029200" y="3108960"/>
                  </a:cubicBezTo>
                  <a:lnTo>
                    <a:pt x="182880" y="3108960"/>
                  </a:lnTo>
                  <a:cubicBezTo>
                    <a:pt x="81915" y="3108960"/>
                    <a:pt x="0" y="3027045"/>
                    <a:pt x="0" y="2926080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283196" y="2309277"/>
            <a:ext cx="3909060" cy="3516213"/>
            <a:chOff x="0" y="0"/>
            <a:chExt cx="5212080" cy="46882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2080" cy="4688284"/>
            </a:xfrm>
            <a:custGeom>
              <a:avLst/>
              <a:gdLst/>
              <a:ahLst/>
              <a:cxnLst/>
              <a:rect r="r" b="b" t="t" l="l"/>
              <a:pathLst>
                <a:path h="4688284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4688284"/>
                  </a:lnTo>
                  <a:lnTo>
                    <a:pt x="0" y="4688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34" r="0" b="6371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5212080" cy="46978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3A86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25+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502652" y="4320540"/>
            <a:ext cx="3497580" cy="822960"/>
            <a:chOff x="0" y="0"/>
            <a:chExt cx="466344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6634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Competitions &amp; workshops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122415" y="3038683"/>
            <a:ext cx="3909060" cy="2331720"/>
            <a:chOff x="0" y="0"/>
            <a:chExt cx="5212080" cy="3108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120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2926080"/>
                  </a:lnTo>
                  <a:cubicBezTo>
                    <a:pt x="5212080" y="3027045"/>
                    <a:pt x="5130165" y="3108960"/>
                    <a:pt x="5029200" y="3108960"/>
                  </a:cubicBezTo>
                  <a:lnTo>
                    <a:pt x="182880" y="3108960"/>
                  </a:lnTo>
                  <a:cubicBezTo>
                    <a:pt x="81915" y="3108960"/>
                    <a:pt x="0" y="3027045"/>
                    <a:pt x="0" y="2926080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094983" y="2274987"/>
            <a:ext cx="3909060" cy="4240113"/>
            <a:chOff x="0" y="0"/>
            <a:chExt cx="5212080" cy="56534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12080" cy="5653484"/>
            </a:xfrm>
            <a:custGeom>
              <a:avLst/>
              <a:gdLst/>
              <a:ahLst/>
              <a:cxnLst/>
              <a:rect r="r" b="b" t="t" l="l"/>
              <a:pathLst>
                <a:path h="5653484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5653484"/>
                  </a:lnTo>
                  <a:lnTo>
                    <a:pt x="0" y="56534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3" r="0" b="6990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5212080" cy="56630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3A86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  <a:p>
              <a:pPr algn="ctr">
                <a:lnSpc>
                  <a:spcPts val="57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00723" y="4395043"/>
            <a:ext cx="3497580" cy="822960"/>
            <a:chOff x="0" y="0"/>
            <a:chExt cx="466344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634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466344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Departments involved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0" y="5829300"/>
            <a:ext cx="8229600" cy="548640"/>
            <a:chOff x="0" y="0"/>
            <a:chExt cx="109728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0972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Audience profile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4440" y="6515100"/>
            <a:ext cx="10012680" cy="3017520"/>
            <a:chOff x="0" y="0"/>
            <a:chExt cx="13350240" cy="4023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350239" cy="4023360"/>
            </a:xfrm>
            <a:custGeom>
              <a:avLst/>
              <a:gdLst/>
              <a:ahLst/>
              <a:cxnLst/>
              <a:rect r="r" b="b" t="t" l="l"/>
              <a:pathLst>
                <a:path h="402336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4" r="0" b="-1465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23825"/>
              <a:ext cx="13350240" cy="4147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Engineering &amp; AI/ML undergraduates from SIT and visiting colleges</a:t>
              </a:r>
            </a:p>
            <a:p>
              <a:pPr algn="l" marL="352901" indent="-176451" lvl="1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Hackathon and competition participants with hands-on project experience</a:t>
              </a:r>
            </a:p>
            <a:p>
              <a:pPr algn="l" marL="352901" indent="-176451" lvl="1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Faculty, mentors, and department heads across six engineering disciplines</a:t>
              </a:r>
            </a:p>
            <a:p>
              <a:pPr algn="l" marL="352901" indent="-176451" lvl="1">
                <a:lnSpc>
                  <a:spcPts val="3159"/>
                </a:lnSpc>
                <a:buFont typeface="Arial"/>
                <a:buChar char="•"/>
              </a:pPr>
              <a:r>
                <a:rPr lang="en-US" sz="195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Industry guests, alumni, and media covering the inauguration and finals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795760" y="5829300"/>
            <a:ext cx="5280660" cy="3703320"/>
            <a:chOff x="0" y="0"/>
            <a:chExt cx="7040880" cy="49377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40880" cy="4937760"/>
            </a:xfrm>
            <a:custGeom>
              <a:avLst/>
              <a:gdLst/>
              <a:ahLst/>
              <a:cxnLst/>
              <a:rect r="r" b="b" t="t" l="l"/>
              <a:pathLst>
                <a:path h="4937760" w="7040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858000" y="0"/>
                  </a:lnTo>
                  <a:cubicBezTo>
                    <a:pt x="6958965" y="0"/>
                    <a:pt x="7040880" y="81915"/>
                    <a:pt x="7040880" y="182880"/>
                  </a:cubicBezTo>
                  <a:lnTo>
                    <a:pt x="7040880" y="4754880"/>
                  </a:lnTo>
                  <a:cubicBezTo>
                    <a:pt x="7040880" y="4855845"/>
                    <a:pt x="6958965" y="4937760"/>
                    <a:pt x="6858000" y="4937760"/>
                  </a:cubicBezTo>
                  <a:lnTo>
                    <a:pt x="182880" y="4937760"/>
                  </a:lnTo>
                  <a:cubicBezTo>
                    <a:pt x="81915" y="4937760"/>
                    <a:pt x="0" y="4855845"/>
                    <a:pt x="0" y="4754880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207240" y="6172200"/>
            <a:ext cx="4389120" cy="480060"/>
            <a:chOff x="0" y="0"/>
            <a:chExt cx="5852160" cy="640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00E6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Format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207240" y="6720840"/>
            <a:ext cx="4457700" cy="2606040"/>
            <a:chOff x="0" y="0"/>
            <a:chExt cx="5943600" cy="3474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943600" cy="3474720"/>
            </a:xfrm>
            <a:custGeom>
              <a:avLst/>
              <a:gdLst/>
              <a:ahLst/>
              <a:cxnLst/>
              <a:rect r="r" b="b" t="t" l="l"/>
              <a:pathLst>
                <a:path h="34747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008" t="0" r="-25008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04775"/>
              <a:ext cx="5943600" cy="35794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5"/>
                </a:lnSpc>
              </a:pPr>
              <a:r>
                <a:rPr lang="en-US" sz="1875">
                  <a:solidFill>
                    <a:srgbClr val="C7D3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2-day, multi-venue, on-campus fest with a national-level competition format and an industry exhibition floor.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A8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HAPPENS ON GROUND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8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Marquee events across six verticals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4915" y="2665095"/>
            <a:ext cx="5093970" cy="2899410"/>
            <a:chOff x="0" y="0"/>
            <a:chExt cx="6791960" cy="3865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919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7919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07810" y="0"/>
                  </a:lnTo>
                  <a:cubicBezTo>
                    <a:pt x="6709537" y="0"/>
                    <a:pt x="6791960" y="82423"/>
                    <a:pt x="6791960" y="184150"/>
                  </a:cubicBezTo>
                  <a:lnTo>
                    <a:pt x="6791960" y="3681730"/>
                  </a:lnTo>
                  <a:cubicBezTo>
                    <a:pt x="6791960" y="3783457"/>
                    <a:pt x="6709537" y="3865880"/>
                    <a:pt x="660781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45920" y="308610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E6C3">
                <a:alpha val="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10512" y="3250692"/>
            <a:ext cx="356616" cy="356616"/>
            <a:chOff x="0" y="0"/>
            <a:chExt cx="475488" cy="4754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37360" y="3985260"/>
            <a:ext cx="40690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Robotics &amp; Automation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7360" y="4564380"/>
            <a:ext cx="40690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RoboRace — autonomous &amp; RC robot navigation challenge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74155" y="2665095"/>
            <a:ext cx="5093970" cy="2899410"/>
            <a:chOff x="0" y="0"/>
            <a:chExt cx="6791960" cy="38658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919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7919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07810" y="0"/>
                  </a:lnTo>
                  <a:cubicBezTo>
                    <a:pt x="6709537" y="0"/>
                    <a:pt x="6791960" y="82423"/>
                    <a:pt x="6791960" y="184150"/>
                  </a:cubicBezTo>
                  <a:lnTo>
                    <a:pt x="6791960" y="3681730"/>
                  </a:lnTo>
                  <a:cubicBezTo>
                    <a:pt x="6791960" y="3783457"/>
                    <a:pt x="6709537" y="3865880"/>
                    <a:pt x="660781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995160" y="3086100"/>
            <a:ext cx="685800" cy="685800"/>
            <a:chOff x="0" y="0"/>
            <a:chExt cx="9144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E6C3">
                <a:alpha val="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59752" y="3250692"/>
            <a:ext cx="356616" cy="356616"/>
            <a:chOff x="0" y="0"/>
            <a:chExt cx="475488" cy="475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086600" y="3985260"/>
            <a:ext cx="40690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Civil Engineering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86600" y="4564380"/>
            <a:ext cx="40690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Bridge design contests, Crane-o-Mania, Smart City model-making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923395" y="2665095"/>
            <a:ext cx="5093970" cy="2899410"/>
            <a:chOff x="0" y="0"/>
            <a:chExt cx="6791960" cy="3865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919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7919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07810" y="0"/>
                  </a:lnTo>
                  <a:cubicBezTo>
                    <a:pt x="6709537" y="0"/>
                    <a:pt x="6791960" y="82423"/>
                    <a:pt x="6791960" y="184150"/>
                  </a:cubicBezTo>
                  <a:lnTo>
                    <a:pt x="6791960" y="3681730"/>
                  </a:lnTo>
                  <a:cubicBezTo>
                    <a:pt x="6791960" y="3783457"/>
                    <a:pt x="6709537" y="3865880"/>
                    <a:pt x="660781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0" y="3086100"/>
            <a:ext cx="685800" cy="685800"/>
            <a:chOff x="0" y="0"/>
            <a:chExt cx="9144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E6C3">
                <a:alpha val="8627"/>
              </a:srgbClr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508992" y="3250692"/>
            <a:ext cx="356616" cy="356616"/>
            <a:chOff x="0" y="0"/>
            <a:chExt cx="475488" cy="4754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435840" y="3985260"/>
            <a:ext cx="40690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Coding &amp; 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35840" y="4564380"/>
            <a:ext cx="40690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CodeWars, CodeRush, and competitive programming rounds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24915" y="5819775"/>
            <a:ext cx="5093970" cy="2899410"/>
            <a:chOff x="0" y="0"/>
            <a:chExt cx="6791960" cy="3865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7919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7919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07810" y="0"/>
                  </a:lnTo>
                  <a:cubicBezTo>
                    <a:pt x="6709537" y="0"/>
                    <a:pt x="6791960" y="82423"/>
                    <a:pt x="6791960" y="184150"/>
                  </a:cubicBezTo>
                  <a:lnTo>
                    <a:pt x="6791960" y="3681730"/>
                  </a:lnTo>
                  <a:cubicBezTo>
                    <a:pt x="6791960" y="3783457"/>
                    <a:pt x="6709537" y="3865880"/>
                    <a:pt x="660781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645920" y="6240780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E6C3">
                <a:alpha val="8627"/>
              </a:srgbClr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810512" y="6405372"/>
            <a:ext cx="356616" cy="356616"/>
            <a:chOff x="0" y="0"/>
            <a:chExt cx="475488" cy="4754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737360" y="7139940"/>
            <a:ext cx="40690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Diplomacy &amp; Ideation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737360" y="7719060"/>
            <a:ext cx="40690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Tech MUN and cross-disciplinary case challenges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574155" y="5819775"/>
            <a:ext cx="5093970" cy="2899410"/>
            <a:chOff x="0" y="0"/>
            <a:chExt cx="6791960" cy="38658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919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7919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07810" y="0"/>
                  </a:lnTo>
                  <a:cubicBezTo>
                    <a:pt x="6709537" y="0"/>
                    <a:pt x="6791960" y="82423"/>
                    <a:pt x="6791960" y="184150"/>
                  </a:cubicBezTo>
                  <a:lnTo>
                    <a:pt x="6791960" y="3681730"/>
                  </a:lnTo>
                  <a:cubicBezTo>
                    <a:pt x="6791960" y="3783457"/>
                    <a:pt x="6709537" y="3865880"/>
                    <a:pt x="660781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995160" y="6240780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E6C3">
                <a:alpha val="8627"/>
              </a:srgbClr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59752" y="6405372"/>
            <a:ext cx="356616" cy="356616"/>
            <a:chOff x="0" y="0"/>
            <a:chExt cx="475488" cy="4754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7086600" y="7139940"/>
            <a:ext cx="40690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Puzzles &amp; Gaming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86600" y="7719060"/>
            <a:ext cx="40690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Decrypt treasure hunt, PuzzleMania, LAN gaming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1923395" y="5819775"/>
            <a:ext cx="5093970" cy="2899410"/>
            <a:chOff x="0" y="0"/>
            <a:chExt cx="6791960" cy="38658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791960" cy="3865880"/>
            </a:xfrm>
            <a:custGeom>
              <a:avLst/>
              <a:gdLst/>
              <a:ahLst/>
              <a:cxnLst/>
              <a:rect r="r" b="b" t="t" l="l"/>
              <a:pathLst>
                <a:path h="3865880" w="679196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07810" y="0"/>
                  </a:lnTo>
                  <a:cubicBezTo>
                    <a:pt x="6709537" y="0"/>
                    <a:pt x="6791960" y="82423"/>
                    <a:pt x="6791960" y="184150"/>
                  </a:cubicBezTo>
                  <a:lnTo>
                    <a:pt x="6791960" y="3681730"/>
                  </a:lnTo>
                  <a:cubicBezTo>
                    <a:pt x="6791960" y="3783457"/>
                    <a:pt x="6709537" y="3865880"/>
                    <a:pt x="6607810" y="3865880"/>
                  </a:cubicBezTo>
                  <a:lnTo>
                    <a:pt x="184150" y="3865880"/>
                  </a:lnTo>
                  <a:cubicBezTo>
                    <a:pt x="82423" y="3865880"/>
                    <a:pt x="0" y="3783457"/>
                    <a:pt x="0" y="368173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8F2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4400" y="6240780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E6C3">
                <a:alpha val="8627"/>
              </a:srgbClr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508992" y="6405372"/>
            <a:ext cx="356616" cy="356616"/>
            <a:chOff x="0" y="0"/>
            <a:chExt cx="475488" cy="4754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237744"/>
                  </a:moveTo>
                  <a:cubicBezTo>
                    <a:pt x="0" y="106426"/>
                    <a:pt x="106426" y="0"/>
                    <a:pt x="237744" y="0"/>
                  </a:cubicBezTo>
                  <a:cubicBezTo>
                    <a:pt x="369062" y="0"/>
                    <a:pt x="475488" y="106426"/>
                    <a:pt x="475488" y="237744"/>
                  </a:cubicBezTo>
                  <a:cubicBezTo>
                    <a:pt x="475488" y="369062"/>
                    <a:pt x="369062" y="475488"/>
                    <a:pt x="237744" y="475488"/>
                  </a:cubicBezTo>
                  <a:cubicBezTo>
                    <a:pt x="106426" y="475488"/>
                    <a:pt x="0" y="369062"/>
                    <a:pt x="0" y="237744"/>
                  </a:cubicBezTo>
                  <a:close/>
                </a:path>
              </a:pathLst>
            </a:custGeom>
            <a:solidFill>
              <a:srgbClr val="0B1E3F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2435840" y="7139940"/>
            <a:ext cx="406908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 b="true">
                <a:solidFill>
                  <a:srgbClr val="11182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Industry Exhibition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435840" y="7719060"/>
            <a:ext cx="406908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5B6B85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showcases and demos from corporate &amp; R&amp;D partners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00E6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VISIBILITY PACKAGE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82880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Where your brand shows up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537460"/>
            <a:ext cx="5143500" cy="6446520"/>
            <a:chOff x="0" y="0"/>
            <a:chExt cx="6858000" cy="859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8595360"/>
            </a:xfrm>
            <a:custGeom>
              <a:avLst/>
              <a:gdLst/>
              <a:ahLst/>
              <a:cxnLst/>
              <a:rect r="r" b="b" t="t" l="l"/>
              <a:pathLst>
                <a:path h="8595360" w="6858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8412480"/>
                  </a:lnTo>
                  <a:cubicBezTo>
                    <a:pt x="6858000" y="8513445"/>
                    <a:pt x="6776085" y="8595360"/>
                    <a:pt x="667512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13294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5920" y="2948940"/>
            <a:ext cx="4320540" cy="617220"/>
            <a:chOff x="0" y="0"/>
            <a:chExt cx="5760720" cy="8229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60720" cy="822960"/>
            </a:xfrm>
            <a:custGeom>
              <a:avLst/>
              <a:gdLst/>
              <a:ahLst/>
              <a:cxnLst/>
              <a:rect r="r" b="b" t="t" l="l"/>
              <a:pathLst>
                <a:path h="8229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7607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0E6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the fest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37360" y="3634740"/>
            <a:ext cx="4137660" cy="49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916"/>
              </a:lnSpc>
              <a:buFont typeface="Arial"/>
              <a:buChar char="•"/>
            </a:pPr>
            <a:r>
              <a:rPr lang="en-US" sz="1800">
                <a:solidFill>
                  <a:srgbClr val="C7D3EA"/>
                </a:solidFill>
                <a:latin typeface="Calibri (MS)"/>
                <a:ea typeface="Calibri (MS)"/>
                <a:cs typeface="Calibri (MS)"/>
                <a:sym typeface="Calibri (MS)"/>
              </a:rPr>
              <a:t>Logo on website &amp; registration portal</a:t>
            </a:r>
          </a:p>
          <a:p>
            <a:pPr algn="l" marL="325755" indent="-162878" lvl="1">
              <a:lnSpc>
                <a:spcPts val="2916"/>
              </a:lnSpc>
              <a:buFont typeface="Arial"/>
              <a:buChar char="•"/>
            </a:pPr>
            <a:r>
              <a:rPr lang="en-US" sz="1800">
                <a:solidFill>
                  <a:srgbClr val="C7D3EA"/>
                </a:solidFill>
                <a:latin typeface="Calibri (MS)"/>
                <a:ea typeface="Calibri (MS)"/>
                <a:cs typeface="Calibri (MS)"/>
                <a:sym typeface="Calibri (MS)"/>
              </a:rPr>
              <a:t>Social media promotion across event pages</a:t>
            </a:r>
          </a:p>
          <a:p>
            <a:pPr algn="l" marL="325755" indent="-162878" lvl="1">
              <a:lnSpc>
                <a:spcPts val="2916"/>
              </a:lnSpc>
              <a:buFont typeface="Arial"/>
              <a:buChar char="•"/>
            </a:pPr>
            <a:r>
              <a:rPr lang="en-US" sz="1800">
                <a:solidFill>
                  <a:srgbClr val="C7D3EA"/>
                </a:solidFill>
                <a:latin typeface="Calibri (MS)"/>
                <a:ea typeface="Calibri (MS)"/>
                <a:cs typeface="Calibri (MS)"/>
                <a:sym typeface="Calibri (MS)"/>
              </a:rPr>
              <a:t>Mentions in press releases &amp; college bulletins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720840" y="2537460"/>
            <a:ext cx="5143500" cy="6446520"/>
            <a:chOff x="0" y="0"/>
            <a:chExt cx="6858000" cy="859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0" cy="8595360"/>
            </a:xfrm>
            <a:custGeom>
              <a:avLst/>
              <a:gdLst/>
              <a:ahLst/>
              <a:cxnLst/>
              <a:rect r="r" b="b" t="t" l="l"/>
              <a:pathLst>
                <a:path h="8595360" w="6858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8412480"/>
                  </a:lnTo>
                  <a:cubicBezTo>
                    <a:pt x="6858000" y="8513445"/>
                    <a:pt x="6776085" y="8595360"/>
                    <a:pt x="667512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13294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32320" y="2948940"/>
            <a:ext cx="4320540" cy="617220"/>
            <a:chOff x="0" y="0"/>
            <a:chExt cx="5760720" cy="822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60720" cy="822960"/>
            </a:xfrm>
            <a:custGeom>
              <a:avLst/>
              <a:gdLst/>
              <a:ahLst/>
              <a:cxnLst/>
              <a:rect r="r" b="b" t="t" l="l"/>
              <a:pathLst>
                <a:path h="8229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57607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0E6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During the fest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223760" y="3634740"/>
            <a:ext cx="4137660" cy="49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916"/>
              </a:lnSpc>
              <a:buFont typeface="Arial"/>
              <a:buChar char="•"/>
            </a:pPr>
            <a:r>
              <a:rPr lang="en-US" sz="1800">
                <a:solidFill>
                  <a:srgbClr val="C7D3EA"/>
                </a:solidFill>
                <a:latin typeface="Calibri (MS)"/>
                <a:ea typeface="Calibri (MS)"/>
                <a:cs typeface="Calibri (MS)"/>
                <a:sym typeface="Calibri (MS)"/>
              </a:rPr>
              <a:t>Stage backdrop &amp; banner placement</a:t>
            </a:r>
          </a:p>
          <a:p>
            <a:pPr algn="l" marL="325755" indent="-162878" lvl="1">
              <a:lnSpc>
                <a:spcPts val="2916"/>
              </a:lnSpc>
              <a:buFont typeface="Arial"/>
              <a:buChar char="•"/>
            </a:pPr>
            <a:r>
              <a:rPr lang="en-US" sz="1800">
                <a:solidFill>
                  <a:srgbClr val="C7D3EA"/>
                </a:solidFill>
                <a:latin typeface="Calibri (MS)"/>
                <a:ea typeface="Calibri (MS)"/>
                <a:cs typeface="Calibri (MS)"/>
                <a:sym typeface="Calibri (MS)"/>
              </a:rPr>
              <a:t>Exhibition booth / product demo space</a:t>
            </a:r>
          </a:p>
          <a:p>
            <a:pPr algn="l" marL="325755" indent="-162878" lvl="1">
              <a:lnSpc>
                <a:spcPts val="2916"/>
              </a:lnSpc>
              <a:buFont typeface="Arial"/>
              <a:buChar char="•"/>
            </a:pPr>
            <a:r>
              <a:rPr lang="en-US" sz="1800">
                <a:solidFill>
                  <a:srgbClr val="C7D3EA"/>
                </a:solidFill>
                <a:latin typeface="Calibri (MS)"/>
                <a:ea typeface="Calibri (MS)"/>
                <a:cs typeface="Calibri (MS)"/>
                <a:sym typeface="Calibri (MS)"/>
              </a:rPr>
              <a:t>Announcer mentions during inauguration &amp; finals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207240" y="2537460"/>
            <a:ext cx="5143500" cy="6446520"/>
            <a:chOff x="0" y="0"/>
            <a:chExt cx="6858000" cy="859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0" cy="8595360"/>
            </a:xfrm>
            <a:custGeom>
              <a:avLst/>
              <a:gdLst/>
              <a:ahLst/>
              <a:cxnLst/>
              <a:rect r="r" b="b" t="t" l="l"/>
              <a:pathLst>
                <a:path h="8595360" w="68580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675120" y="0"/>
                  </a:lnTo>
                  <a:cubicBezTo>
                    <a:pt x="6776085" y="0"/>
                    <a:pt x="6858000" y="81915"/>
                    <a:pt x="6858000" y="182880"/>
                  </a:cubicBezTo>
                  <a:lnTo>
                    <a:pt x="6858000" y="8412480"/>
                  </a:lnTo>
                  <a:cubicBezTo>
                    <a:pt x="6858000" y="8513445"/>
                    <a:pt x="6776085" y="8595360"/>
                    <a:pt x="6675120" y="8595360"/>
                  </a:cubicBezTo>
                  <a:lnTo>
                    <a:pt x="182880" y="8595360"/>
                  </a:lnTo>
                  <a:cubicBezTo>
                    <a:pt x="81915" y="8595360"/>
                    <a:pt x="0" y="8513445"/>
                    <a:pt x="0" y="8412480"/>
                  </a:cubicBezTo>
                  <a:close/>
                </a:path>
              </a:pathLst>
            </a:custGeom>
            <a:solidFill>
              <a:srgbClr val="13294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618720" y="2948940"/>
            <a:ext cx="4320540" cy="617220"/>
            <a:chOff x="0" y="0"/>
            <a:chExt cx="576072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60720" cy="822960"/>
            </a:xfrm>
            <a:custGeom>
              <a:avLst/>
              <a:gdLst/>
              <a:ahLst/>
              <a:cxnLst/>
              <a:rect r="r" b="b" t="t" l="l"/>
              <a:pathLst>
                <a:path h="822960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760720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0E6C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 the fest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710160" y="3634740"/>
            <a:ext cx="4137660" cy="496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5755" indent="-162878" lvl="1">
              <a:lnSpc>
                <a:spcPts val="2916"/>
              </a:lnSpc>
              <a:buFont typeface="Arial"/>
              <a:buChar char="•"/>
            </a:pPr>
            <a:r>
              <a:rPr lang="en-US" sz="1800">
                <a:solidFill>
                  <a:srgbClr val="C7D3EA"/>
                </a:solidFill>
                <a:latin typeface="Calibri (MS)"/>
                <a:ea typeface="Calibri (MS)"/>
                <a:cs typeface="Calibri (MS)"/>
                <a:sym typeface="Calibri (MS)"/>
              </a:rPr>
              <a:t>Feature in the post-event report</a:t>
            </a:r>
          </a:p>
          <a:p>
            <a:pPr algn="l" marL="325755" indent="-162878" lvl="1">
              <a:lnSpc>
                <a:spcPts val="2916"/>
              </a:lnSpc>
              <a:buFont typeface="Arial"/>
              <a:buChar char="•"/>
            </a:pPr>
            <a:r>
              <a:rPr lang="en-US" sz="1800">
                <a:solidFill>
                  <a:srgbClr val="C7D3EA"/>
                </a:solidFill>
                <a:latin typeface="Calibri (MS)"/>
                <a:ea typeface="Calibri (MS)"/>
                <a:cs typeface="Calibri (MS)"/>
                <a:sym typeface="Calibri (MS)"/>
              </a:rPr>
              <a:t>Photo &amp; video coverage credit</a:t>
            </a:r>
          </a:p>
          <a:p>
            <a:pPr algn="l" marL="325755" indent="-162878" lvl="1">
              <a:lnSpc>
                <a:spcPts val="2916"/>
              </a:lnSpc>
              <a:buFont typeface="Arial"/>
              <a:buChar char="•"/>
            </a:pPr>
            <a:r>
              <a:rPr lang="en-US" sz="1800">
                <a:solidFill>
                  <a:srgbClr val="C7D3EA"/>
                </a:solidFill>
                <a:latin typeface="Calibri (MS)"/>
                <a:ea typeface="Calibri (MS)"/>
                <a:cs typeface="Calibri (MS)"/>
                <a:sym typeface="Calibri (MS)"/>
              </a:rPr>
              <a:t>Access to participant contact list (with consent)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FA3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A8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PARTNERSHIP OPTIONS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165860"/>
            <a:ext cx="10972800" cy="822960"/>
            <a:chOff x="0" y="0"/>
            <a:chExt cx="146304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1118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Sponsorship tiers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8795385"/>
            <a:ext cx="16024860" cy="1474470"/>
            <a:chOff x="0" y="0"/>
            <a:chExt cx="21366480" cy="1965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66480" cy="1965960"/>
            </a:xfrm>
            <a:custGeom>
              <a:avLst/>
              <a:gdLst/>
              <a:ahLst/>
              <a:cxnLst/>
              <a:rect r="r" b="b" t="t" l="l"/>
              <a:pathLst>
                <a:path h="1965960" w="21366480">
                  <a:moveTo>
                    <a:pt x="0" y="0"/>
                  </a:moveTo>
                  <a:lnTo>
                    <a:pt x="21366480" y="0"/>
                  </a:lnTo>
                  <a:lnTo>
                    <a:pt x="21366480" y="1965960"/>
                  </a:lnTo>
                  <a:lnTo>
                    <a:pt x="0" y="1965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102" r="5848" b="-1156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366480" cy="2032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59"/>
                </a:lnSpc>
              </a:pPr>
              <a:r>
                <a:rPr lang="en-US" sz="3049" i="true">
                  <a:solidFill>
                    <a:srgbClr val="0B1E3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For Food Companies -  ₹5,000 to ₹6,000 Registratation Fee (Coupons to be provided by the food stalls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234440" y="1988820"/>
          <a:ext cx="15773400" cy="6667500"/>
        </p:xfrm>
        <a:graphic>
          <a:graphicData uri="http://schemas.openxmlformats.org/drawingml/2006/table">
            <a:tbl>
              <a:tblPr/>
              <a:tblGrid>
                <a:gridCol w="4780959"/>
                <a:gridCol w="2748110"/>
                <a:gridCol w="2748110"/>
                <a:gridCol w="2748110"/>
                <a:gridCol w="2748110"/>
              </a:tblGrid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Benefit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B1E3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Title Sponsor</a:t>
                      </a:r>
                      <a:endParaRPr lang="en-US" sz="1100"/>
                    </a:p>
                    <a:p>
                      <a:pPr algn="ctr">
                        <a:lnSpc>
                          <a:spcPts val="2070"/>
                        </a:lnSpc>
                      </a:pPr>
                      <a:r>
                        <a:rPr lang="en-US" sz="1725" b="true">
                          <a:solidFill>
                            <a:srgbClr val="0B1E3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₹ 1,50,000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B1E3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Platinum</a:t>
                      </a:r>
                      <a:endParaRPr lang="en-US" sz="1100"/>
                    </a:p>
                    <a:p>
                      <a:pPr algn="ctr">
                        <a:lnSpc>
                          <a:spcPts val="2070"/>
                        </a:lnSpc>
                      </a:pPr>
                      <a:r>
                        <a:rPr lang="en-US" sz="1725" b="true">
                          <a:solidFill>
                            <a:srgbClr val="0B1E3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₹ 50,000 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B1E3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Gold</a:t>
                      </a:r>
                      <a:endParaRPr lang="en-US" sz="1100"/>
                    </a:p>
                    <a:p>
                      <a:pPr algn="ctr">
                        <a:lnSpc>
                          <a:spcPts val="2070"/>
                        </a:lnSpc>
                      </a:pPr>
                      <a:r>
                        <a:rPr lang="en-US" sz="1725" b="true">
                          <a:solidFill>
                            <a:srgbClr val="0B1E3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₹ 30,000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0"/>
                        </a:lnSpc>
                        <a:defRPr/>
                      </a:pPr>
                      <a:r>
                        <a:rPr lang="en-US" sz="1725" b="true">
                          <a:solidFill>
                            <a:srgbClr val="0B1E3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Silver</a:t>
                      </a:r>
                      <a:endParaRPr lang="en-US" sz="1100"/>
                    </a:p>
                    <a:p>
                      <a:pPr algn="ctr">
                        <a:lnSpc>
                          <a:spcPts val="2070"/>
                        </a:lnSpc>
                      </a:pPr>
                      <a:r>
                        <a:rPr lang="en-US" sz="1725" b="true">
                          <a:solidFill>
                            <a:srgbClr val="0B1E3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₹ 20,000</a:t>
                      </a:r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F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Logo placement — title billing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Logo on all marketing collateral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Exhibition / branding space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Premium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Standard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Standard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Stage mentions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Social media 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9525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sz="1650" b="true">
                          <a:solidFill>
                            <a:srgbClr val="11182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Complimentary passes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[X]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[X]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[X]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>
                          <a:solidFill>
                            <a:srgbClr val="5B6B8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[X]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A8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 GOOD COMPANY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0116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118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Organizations that have partnered with SymbiTech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87689" y="4159578"/>
            <a:ext cx="5109576" cy="1468107"/>
          </a:xfrm>
          <a:custGeom>
            <a:avLst/>
            <a:gdLst/>
            <a:ahLst/>
            <a:cxnLst/>
            <a:rect r="r" b="b" t="t" l="l"/>
            <a:pathLst>
              <a:path h="1468107" w="5109576">
                <a:moveTo>
                  <a:pt x="0" y="0"/>
                </a:moveTo>
                <a:lnTo>
                  <a:pt x="5109576" y="0"/>
                </a:lnTo>
                <a:lnTo>
                  <a:pt x="5109576" y="1468106"/>
                </a:lnTo>
                <a:lnTo>
                  <a:pt x="0" y="1468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141" t="-62883" r="-21380" b="-9851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05223" y="3992566"/>
            <a:ext cx="4953540" cy="1635118"/>
          </a:xfrm>
          <a:custGeom>
            <a:avLst/>
            <a:gdLst/>
            <a:ahLst/>
            <a:cxnLst/>
            <a:rect r="r" b="b" t="t" l="l"/>
            <a:pathLst>
              <a:path h="1635118" w="4953540">
                <a:moveTo>
                  <a:pt x="0" y="0"/>
                </a:moveTo>
                <a:lnTo>
                  <a:pt x="4953540" y="0"/>
                </a:lnTo>
                <a:lnTo>
                  <a:pt x="4953540" y="1635118"/>
                </a:lnTo>
                <a:lnTo>
                  <a:pt x="0" y="1635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7618" r="0" b="-10532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954088" y="2361414"/>
            <a:ext cx="3505000" cy="4232453"/>
          </a:xfrm>
          <a:custGeom>
            <a:avLst/>
            <a:gdLst/>
            <a:ahLst/>
            <a:cxnLst/>
            <a:rect r="r" b="b" t="t" l="l"/>
            <a:pathLst>
              <a:path h="4232453" w="3505000">
                <a:moveTo>
                  <a:pt x="0" y="0"/>
                </a:moveTo>
                <a:lnTo>
                  <a:pt x="3505000" y="0"/>
                </a:lnTo>
                <a:lnTo>
                  <a:pt x="3505000" y="4232453"/>
                </a:lnTo>
                <a:lnTo>
                  <a:pt x="0" y="42324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87689" y="6076420"/>
            <a:ext cx="5417533" cy="1390500"/>
          </a:xfrm>
          <a:custGeom>
            <a:avLst/>
            <a:gdLst/>
            <a:ahLst/>
            <a:cxnLst/>
            <a:rect r="r" b="b" t="t" l="l"/>
            <a:pathLst>
              <a:path h="1390500" w="5417533">
                <a:moveTo>
                  <a:pt x="0" y="0"/>
                </a:moveTo>
                <a:lnTo>
                  <a:pt x="5417534" y="0"/>
                </a:lnTo>
                <a:lnTo>
                  <a:pt x="5417534" y="1390500"/>
                </a:lnTo>
                <a:lnTo>
                  <a:pt x="0" y="1390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46224" y="7165001"/>
            <a:ext cx="5625724" cy="2367619"/>
          </a:xfrm>
          <a:custGeom>
            <a:avLst/>
            <a:gdLst/>
            <a:ahLst/>
            <a:cxnLst/>
            <a:rect r="r" b="b" t="t" l="l"/>
            <a:pathLst>
              <a:path h="2367619" w="5625724">
                <a:moveTo>
                  <a:pt x="0" y="0"/>
                </a:moveTo>
                <a:lnTo>
                  <a:pt x="5625724" y="0"/>
                </a:lnTo>
                <a:lnTo>
                  <a:pt x="5625724" y="2367619"/>
                </a:lnTo>
                <a:lnTo>
                  <a:pt x="0" y="23676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0194" r="0" b="-67416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01232" y="2361414"/>
            <a:ext cx="5296033" cy="1350488"/>
          </a:xfrm>
          <a:custGeom>
            <a:avLst/>
            <a:gdLst/>
            <a:ahLst/>
            <a:cxnLst/>
            <a:rect r="r" b="b" t="t" l="l"/>
            <a:pathLst>
              <a:path h="1350488" w="5296033">
                <a:moveTo>
                  <a:pt x="0" y="0"/>
                </a:moveTo>
                <a:lnTo>
                  <a:pt x="5296033" y="0"/>
                </a:lnTo>
                <a:lnTo>
                  <a:pt x="5296033" y="1350489"/>
                </a:lnTo>
                <a:lnTo>
                  <a:pt x="0" y="13504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997257" y="5946586"/>
            <a:ext cx="3794760" cy="1650169"/>
          </a:xfrm>
          <a:custGeom>
            <a:avLst/>
            <a:gdLst/>
            <a:ahLst/>
            <a:cxnLst/>
            <a:rect r="r" b="b" t="t" l="l"/>
            <a:pathLst>
              <a:path h="1650169" w="3794760">
                <a:moveTo>
                  <a:pt x="0" y="0"/>
                </a:moveTo>
                <a:lnTo>
                  <a:pt x="3794760" y="0"/>
                </a:lnTo>
                <a:lnTo>
                  <a:pt x="3794760" y="1650169"/>
                </a:lnTo>
                <a:lnTo>
                  <a:pt x="0" y="16501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419" t="0" r="-12977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114594" y="2478093"/>
            <a:ext cx="2964933" cy="1117131"/>
          </a:xfrm>
          <a:custGeom>
            <a:avLst/>
            <a:gdLst/>
            <a:ahLst/>
            <a:cxnLst/>
            <a:rect r="r" b="b" t="t" l="l"/>
            <a:pathLst>
              <a:path h="1117131" w="2964933">
                <a:moveTo>
                  <a:pt x="0" y="0"/>
                </a:moveTo>
                <a:lnTo>
                  <a:pt x="2964933" y="0"/>
                </a:lnTo>
                <a:lnTo>
                  <a:pt x="2964933" y="1117131"/>
                </a:lnTo>
                <a:lnTo>
                  <a:pt x="0" y="11171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1771" t="-110089" r="-30006" b="-327925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20313" y="7936748"/>
            <a:ext cx="6045786" cy="1835902"/>
          </a:xfrm>
          <a:custGeom>
            <a:avLst/>
            <a:gdLst/>
            <a:ahLst/>
            <a:cxnLst/>
            <a:rect r="r" b="b" t="t" l="l"/>
            <a:pathLst>
              <a:path h="1835902" w="6045786">
                <a:moveTo>
                  <a:pt x="0" y="0"/>
                </a:moveTo>
                <a:lnTo>
                  <a:pt x="6045787" y="0"/>
                </a:lnTo>
                <a:lnTo>
                  <a:pt x="6045787" y="1835902"/>
                </a:lnTo>
                <a:lnTo>
                  <a:pt x="0" y="18359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6141" t="-48359" r="-6978" b="-60673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525996" y="7915657"/>
            <a:ext cx="4142129" cy="1878085"/>
          </a:xfrm>
          <a:custGeom>
            <a:avLst/>
            <a:gdLst/>
            <a:ahLst/>
            <a:cxnLst/>
            <a:rect r="r" b="b" t="t" l="l"/>
            <a:pathLst>
              <a:path h="1878085" w="4142129">
                <a:moveTo>
                  <a:pt x="0" y="0"/>
                </a:moveTo>
                <a:lnTo>
                  <a:pt x="4142129" y="0"/>
                </a:lnTo>
                <a:lnTo>
                  <a:pt x="4142129" y="1878085"/>
                </a:lnTo>
                <a:lnTo>
                  <a:pt x="0" y="187808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962" t="-2568" r="-7850" b="-11114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029" y="-811172"/>
            <a:ext cx="15087600" cy="2859305"/>
            <a:chOff x="0" y="0"/>
            <a:chExt cx="20116800" cy="3812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3812406"/>
            </a:xfrm>
            <a:custGeom>
              <a:avLst/>
              <a:gdLst/>
              <a:ahLst/>
              <a:cxnLst/>
              <a:rect r="r" b="b" t="t" l="l"/>
              <a:pathLst>
                <a:path h="381240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3812406"/>
                  </a:lnTo>
                  <a:lnTo>
                    <a:pt x="0" y="3812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026" r="0" b="-1960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116800" cy="3812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118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2025 AT A GLANCE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029" y="-811172"/>
            <a:ext cx="15087600" cy="2859305"/>
            <a:chOff x="0" y="0"/>
            <a:chExt cx="20116800" cy="38124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0" cy="3812406"/>
            </a:xfrm>
            <a:custGeom>
              <a:avLst/>
              <a:gdLst/>
              <a:ahLst/>
              <a:cxnLst/>
              <a:rect r="r" b="b" t="t" l="l"/>
              <a:pathLst>
                <a:path h="381240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3812406"/>
                  </a:lnTo>
                  <a:lnTo>
                    <a:pt x="0" y="38124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026" r="0" b="-1960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0116800" cy="38124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118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PREVIOUS EVENTS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4440" y="75438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99">
                  <a:solidFill>
                    <a:srgbClr val="3A86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STEPS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34440" y="1234440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11827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to come on board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4440" y="2880360"/>
            <a:ext cx="3703320" cy="1234440"/>
            <a:chOff x="0" y="0"/>
            <a:chExt cx="4937760" cy="1645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377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93776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6E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4046220"/>
            <a:ext cx="3703320" cy="617220"/>
            <a:chOff x="0" y="0"/>
            <a:chExt cx="4937760" cy="822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37760" cy="822960"/>
            </a:xfrm>
            <a:custGeom>
              <a:avLst/>
              <a:gdLst/>
              <a:ahLst/>
              <a:cxnLst/>
              <a:rect r="r" b="b" t="t" l="l"/>
              <a:pathLst>
                <a:path h="82296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9377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Choose a tier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4663440"/>
            <a:ext cx="3497580" cy="1508760"/>
            <a:chOff x="0" y="0"/>
            <a:chExt cx="4663440" cy="20116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634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46" t="0" r="-534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466344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1"/>
                </a:lnSpc>
              </a:pPr>
              <a:r>
                <a:rPr lang="en-US" sz="17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Pick the sponsorship package that fits your goals and budget.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65192" y="3223260"/>
            <a:ext cx="192024" cy="192024"/>
            <a:chOff x="0" y="0"/>
            <a:chExt cx="256032" cy="2560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0E6C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280660" y="2880360"/>
            <a:ext cx="3703320" cy="1234440"/>
            <a:chOff x="0" y="0"/>
            <a:chExt cx="49377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377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93776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6E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80660" y="4046220"/>
            <a:ext cx="3703320" cy="617220"/>
            <a:chOff x="0" y="0"/>
            <a:chExt cx="493776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37760" cy="822960"/>
            </a:xfrm>
            <a:custGeom>
              <a:avLst/>
              <a:gdLst/>
              <a:ahLst/>
              <a:cxnLst/>
              <a:rect r="r" b="b" t="t" l="l"/>
              <a:pathLst>
                <a:path h="82296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9377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Confirm &amp; sign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280660" y="4663440"/>
            <a:ext cx="3497580" cy="1508760"/>
            <a:chOff x="0" y="0"/>
            <a:chExt cx="4663440" cy="2011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6634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46" t="0" r="-534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466344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1"/>
                </a:lnSpc>
              </a:pPr>
              <a:r>
                <a:rPr lang="en-US" sz="17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Sign the sponsorship agreement and complete the commitment.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11412" y="3223260"/>
            <a:ext cx="192024" cy="192024"/>
            <a:chOff x="0" y="0"/>
            <a:chExt cx="256032" cy="2560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0E6C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326880" y="2880360"/>
            <a:ext cx="3703320" cy="1234440"/>
            <a:chOff x="0" y="0"/>
            <a:chExt cx="4937760" cy="1645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377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93776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6E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26880" y="4046220"/>
            <a:ext cx="3703320" cy="617220"/>
            <a:chOff x="0" y="0"/>
            <a:chExt cx="493776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37760" cy="822960"/>
            </a:xfrm>
            <a:custGeom>
              <a:avLst/>
              <a:gdLst/>
              <a:ahLst/>
              <a:cxnLst/>
              <a:rect r="r" b="b" t="t" l="l"/>
              <a:pathLst>
                <a:path h="82296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49377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 activate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26880" y="4663440"/>
            <a:ext cx="3497580" cy="1508760"/>
            <a:chOff x="0" y="0"/>
            <a:chExt cx="4663440" cy="2011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6634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46" t="0" r="-534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466344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1"/>
                </a:lnSpc>
              </a:pPr>
              <a:r>
                <a:rPr lang="en-US" sz="17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team builds your branding and marketing plan into the event.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057632" y="3223260"/>
            <a:ext cx="192024" cy="192024"/>
            <a:chOff x="0" y="0"/>
            <a:chExt cx="256032" cy="25603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00E6C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373100" y="2880360"/>
            <a:ext cx="3703320" cy="1234440"/>
            <a:chOff x="0" y="0"/>
            <a:chExt cx="4937760" cy="1645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37760" cy="1645920"/>
            </a:xfrm>
            <a:custGeom>
              <a:avLst/>
              <a:gdLst/>
              <a:ahLst/>
              <a:cxnLst/>
              <a:rect r="r" b="b" t="t" l="l"/>
              <a:pathLst>
                <a:path h="164592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493776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6E4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73100" y="4046220"/>
            <a:ext cx="3703320" cy="617220"/>
            <a:chOff x="0" y="0"/>
            <a:chExt cx="4937760" cy="822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937760" cy="822960"/>
            </a:xfrm>
            <a:custGeom>
              <a:avLst/>
              <a:gdLst/>
              <a:ahLst/>
              <a:cxnLst/>
              <a:rect r="r" b="b" t="t" l="l"/>
              <a:pathLst>
                <a:path h="82296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93776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Fest days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373100" y="4663440"/>
            <a:ext cx="3497580" cy="1508760"/>
            <a:chOff x="0" y="0"/>
            <a:chExt cx="4663440" cy="2011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6344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46" t="0" r="-5346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4663440" cy="2106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1"/>
                </a:lnSpc>
              </a:pPr>
              <a:r>
                <a:rPr lang="en-US" sz="1725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brand goes live on-ground and across our channels.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34440" y="6858000"/>
            <a:ext cx="15773400" cy="2194560"/>
            <a:chOff x="0" y="0"/>
            <a:chExt cx="21031200" cy="2926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0312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0312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0848320" y="0"/>
                  </a:lnTo>
                  <a:cubicBezTo>
                    <a:pt x="20949284" y="0"/>
                    <a:pt x="21031200" y="81915"/>
                    <a:pt x="21031200" y="182880"/>
                  </a:cubicBezTo>
                  <a:lnTo>
                    <a:pt x="21031200" y="2743200"/>
                  </a:lnTo>
                  <a:cubicBezTo>
                    <a:pt x="21031200" y="2844165"/>
                    <a:pt x="20949284" y="2926080"/>
                    <a:pt x="20848320" y="2926080"/>
                  </a:cubicBezTo>
                  <a:lnTo>
                    <a:pt x="182880" y="2926080"/>
                  </a:lnTo>
                  <a:cubicBezTo>
                    <a:pt x="81915" y="2926080"/>
                    <a:pt x="0" y="2844165"/>
                    <a:pt x="0" y="2743200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645920" y="7200900"/>
            <a:ext cx="8229600" cy="548640"/>
            <a:chOff x="0" y="0"/>
            <a:chExt cx="1097280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1182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Interested? Let's talk timelines.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45920" y="7749540"/>
            <a:ext cx="14401800" cy="1028700"/>
            <a:chOff x="0" y="0"/>
            <a:chExt cx="19202400" cy="1371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20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04775"/>
              <a:ext cx="19202400" cy="1476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We're finalizing our sponsor roster [X weeks] before the event. Early partners get priority on branding placement and category exclusivity.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B6B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-2057400"/>
            <a:ext cx="6172200" cy="6172200"/>
            <a:chOff x="0" y="0"/>
            <a:chExt cx="8229600" cy="822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296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8229600">
                  <a:moveTo>
                    <a:pt x="0" y="4114800"/>
                  </a:moveTo>
                  <a:cubicBezTo>
                    <a:pt x="0" y="1842262"/>
                    <a:pt x="1842262" y="0"/>
                    <a:pt x="4114800" y="0"/>
                  </a:cubicBezTo>
                  <a:cubicBezTo>
                    <a:pt x="6387338" y="0"/>
                    <a:pt x="8229600" y="1842262"/>
                    <a:pt x="8229600" y="4114800"/>
                  </a:cubicBezTo>
                  <a:cubicBezTo>
                    <a:pt x="8229600" y="6387338"/>
                    <a:pt x="6387338" y="8229600"/>
                    <a:pt x="4114800" y="8229600"/>
                  </a:cubicBezTo>
                  <a:cubicBezTo>
                    <a:pt x="1842262" y="8229600"/>
                    <a:pt x="0" y="6387338"/>
                    <a:pt x="0" y="4114800"/>
                  </a:cubicBezTo>
                  <a:close/>
                </a:path>
              </a:pathLst>
            </a:custGeom>
            <a:solidFill>
              <a:srgbClr val="13294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13280" y="6583680"/>
            <a:ext cx="5760720" cy="5760720"/>
            <a:chOff x="0" y="0"/>
            <a:chExt cx="7680960" cy="7680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3294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910560" y="7680960"/>
            <a:ext cx="2468880" cy="2468880"/>
            <a:chOff x="0" y="0"/>
            <a:chExt cx="3291840" cy="3291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1840" cy="3291840"/>
            </a:xfrm>
            <a:custGeom>
              <a:avLst/>
              <a:gdLst/>
              <a:ahLst/>
              <a:cxnLst/>
              <a:rect r="r" b="b" t="t" l="l"/>
              <a:pathLst>
                <a:path h="3291840" w="3291840">
                  <a:moveTo>
                    <a:pt x="0" y="1645920"/>
                  </a:moveTo>
                  <a:cubicBezTo>
                    <a:pt x="0" y="736854"/>
                    <a:pt x="736854" y="0"/>
                    <a:pt x="1645920" y="0"/>
                  </a:cubicBezTo>
                  <a:cubicBezTo>
                    <a:pt x="2554986" y="0"/>
                    <a:pt x="3291840" y="736854"/>
                    <a:pt x="3291840" y="1645920"/>
                  </a:cubicBezTo>
                  <a:cubicBezTo>
                    <a:pt x="3291840" y="2554986"/>
                    <a:pt x="2554986" y="3291840"/>
                    <a:pt x="1645920" y="3291840"/>
                  </a:cubicBezTo>
                  <a:cubicBezTo>
                    <a:pt x="736854" y="3291840"/>
                    <a:pt x="0" y="2554986"/>
                    <a:pt x="0" y="1645920"/>
                  </a:cubicBezTo>
                  <a:close/>
                </a:path>
              </a:pathLst>
            </a:custGeom>
            <a:solidFill>
              <a:srgbClr val="3A86FF">
                <a:alpha val="470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3566160"/>
            <a:ext cx="14813280" cy="1508760"/>
            <a:chOff x="0" y="0"/>
            <a:chExt cx="19751040" cy="2011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751039" cy="2011680"/>
            </a:xfrm>
            <a:custGeom>
              <a:avLst/>
              <a:gdLst/>
              <a:ahLst/>
              <a:cxnLst/>
              <a:rect r="r" b="b" t="t" l="l"/>
              <a:pathLst>
                <a:path h="20116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07" r="0" b="-1413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9751040" cy="2021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Let's build SymbiTech 2026 together.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5143500"/>
            <a:ext cx="12344400" cy="685800"/>
            <a:chOff x="0" y="0"/>
            <a:chExt cx="164592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459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64592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C7D3E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SymbiTech · Symbiosis Institute of Technology, Pune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6858000"/>
            <a:ext cx="6858000" cy="891540"/>
            <a:chOff x="0" y="0"/>
            <a:chExt cx="9144000" cy="118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914400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500" spc="150">
                  <a:solidFill>
                    <a:srgbClr val="7C8F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EMAIL</a:t>
              </a:r>
            </a:p>
            <a:p>
              <a:pPr algn="l">
                <a:lnSpc>
                  <a:spcPts val="3159"/>
                </a:lnSpc>
              </a:pPr>
              <a:r>
                <a:rPr lang="en-US" sz="2025" spc="202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symbitech.sitpune.edu.in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7886700"/>
            <a:ext cx="6858000" cy="891540"/>
            <a:chOff x="0" y="0"/>
            <a:chExt cx="9144000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914400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500" spc="150">
                  <a:solidFill>
                    <a:srgbClr val="7C8F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PHONE</a:t>
              </a:r>
            </a:p>
            <a:p>
              <a:pPr algn="l">
                <a:lnSpc>
                  <a:spcPts val="3159"/>
                </a:lnSpc>
              </a:pPr>
              <a:r>
                <a:rPr lang="en-US" sz="2025" spc="202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[+91 XXXXX XXXXX]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4440" y="8915400"/>
            <a:ext cx="6858000" cy="891540"/>
            <a:chOff x="0" y="0"/>
            <a:chExt cx="9144000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914400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500" spc="150">
                  <a:solidFill>
                    <a:srgbClr val="7C8F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WEBSITE</a:t>
              </a:r>
            </a:p>
            <a:p>
              <a:pPr algn="l">
                <a:lnSpc>
                  <a:spcPts val="3159"/>
                </a:lnSpc>
              </a:pPr>
              <a:r>
                <a:rPr lang="en-US" sz="2025" spc="202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symbitech.sitpune.edu.in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048988" y="9532620"/>
            <a:ext cx="822960" cy="480060"/>
            <a:chOff x="0" y="0"/>
            <a:chExt cx="109728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4843" t="0" r="-2484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8FA3C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4440" y="5966460"/>
            <a:ext cx="6858000" cy="891540"/>
            <a:chOff x="0" y="0"/>
            <a:chExt cx="9144000" cy="1188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9144000" cy="1274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500" spc="150">
                  <a:solidFill>
                    <a:srgbClr val="7C8FB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INSTAGRAM</a:t>
              </a:r>
            </a:p>
            <a:p>
              <a:pPr algn="l">
                <a:lnSpc>
                  <a:spcPts val="3159"/>
                </a:lnSpc>
              </a:pPr>
              <a:r>
                <a:rPr lang="en-US" sz="2025" spc="202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@symbitech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DAHPg0qZRG0</dc:identifier>
  <dcterms:modified xsi:type="dcterms:W3CDTF">2011-08-01T06:04:30Z</dcterms:modified>
  <cp:revision>1</cp:revision>
  <dc:title>SymbiTech_2026_Sponsorship_Deck.pptx</dc:title>
</cp:coreProperties>
</file>